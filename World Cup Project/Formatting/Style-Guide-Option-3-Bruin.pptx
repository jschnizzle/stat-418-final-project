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74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418  ·  VISUAL STYLE GUIDE  · 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9087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Bruin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Unmistakably UCLA — bright blue and bold gold in a clean geometric sans. Goldman's sky blue stays on as a quiet supporting tone for data.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310896" cy="310896"/>
          </a:xfrm>
          <a:prstGeom prst="ellipse">
            <a:avLst/>
          </a:prstGeom>
          <a:solidFill>
            <a:srgbClr val="2774AE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5349240"/>
            <a:ext cx="310896" cy="310896"/>
          </a:xfrm>
          <a:prstGeom prst="ellipse">
            <a:avLst/>
          </a:prstGeom>
          <a:solidFill>
            <a:srgbClr val="FFD100"/>
          </a:solidFill>
          <a:ln/>
        </p:spPr>
      </p:sp>
      <p:sp>
        <p:nvSpPr>
          <p:cNvPr id="7" name="Shape 5"/>
          <p:cNvSpPr/>
          <p:nvPr/>
        </p:nvSpPr>
        <p:spPr>
          <a:xfrm>
            <a:off x="1481328" y="5349240"/>
            <a:ext cx="310896" cy="310896"/>
          </a:xfrm>
          <a:prstGeom prst="ellipse">
            <a:avLst/>
          </a:prstGeom>
          <a:solidFill>
            <a:srgbClr val="8BB8E8"/>
          </a:solidFill>
          <a:ln/>
        </p:spPr>
      </p:sp>
      <p:sp>
        <p:nvSpPr>
          <p:cNvPr id="8" name="Shape 6"/>
          <p:cNvSpPr/>
          <p:nvPr/>
        </p:nvSpPr>
        <p:spPr>
          <a:xfrm>
            <a:off x="1901952" y="5349240"/>
            <a:ext cx="310896" cy="310896"/>
          </a:xfrm>
          <a:prstGeom prst="ellipse">
            <a:avLst/>
          </a:prstGeom>
          <a:solidFill>
            <a:srgbClr val="6B96C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BLEND:  ~70% UCLA  /  30% GOLDMAN SACHS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and gold front and center; lighter blue and sky blue widen the data range.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2774AE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07238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 Blue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340156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headers, fills, key data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36393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55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#2774AE   ·   RGB 39,116,174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98264" y="178308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94767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FFD100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307238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 Gold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9432" y="340156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Prominent accent — highlights, bars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99432" y="36393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55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#FFD100   ·   RGB 255,209,0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56448" y="178308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94767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005587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307238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 Dark Blue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340156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Depth, dark title blocks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57616" y="36393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55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#005587   ·   RGB 0,85,135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50799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8BB8E8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63270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 Light Blue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" y="596188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Tints, chart series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1248" y="619963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55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#8BB8E8   ·   RGB 139,184,232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98264" y="434340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450799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6B96C3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563270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Sky Blue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99432" y="596188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secondary data color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99432" y="619963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55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#6B96C3   ·   RGB 107,150,195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56448" y="434340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50799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1B2A3A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7616" y="563270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57616" y="596188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57616" y="619963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55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#1B2A3A   ·   RGB 27,42,58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geometric sans across headlines and body — the modern, clean UCLA voice — with a monospace for R code.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38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HEADINGS — Arial Bold  (brand: Archivo / Karbon)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in data science.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527151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0156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— Calibri  (brand: Archivo)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48143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geometric sans tracks UCLA's Karbon: contemporary, timeless, and simple. One family at multiple weights keeps the system unmistakably modern across a PDF, a script, and a slide deck.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7356" y="3246120"/>
            <a:ext cx="5271516" cy="1828800"/>
          </a:xfrm>
          <a:prstGeom prst="roundRect">
            <a:avLst>
              <a:gd name="adj" fmla="val 4000"/>
            </a:avLst>
          </a:prstGeom>
          <a:solidFill>
            <a:srgbClr val="005587"/>
          </a:solidFill>
          <a:ln/>
        </p:spPr>
      </p:sp>
      <p:sp>
        <p:nvSpPr>
          <p:cNvPr id="11" name="Text 9"/>
          <p:cNvSpPr/>
          <p:nvPr/>
        </p:nvSpPr>
        <p:spPr>
          <a:xfrm>
            <a:off x="6505956" y="340156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— Consolas / JetBrains Mono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05956" y="3749040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ggplot(df, aes(x, y, color = group)) +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geom_point()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303520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69080"/>
                <a:gridCol w="40965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FONT (licensed)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 FONT (used here)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Karbon → Archivo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Arial (Bold)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Helvetica / Arial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JetBrains Mono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title block and quick rules for applying the system to a slide.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035040" cy="2651760"/>
          </a:xfrm>
          <a:prstGeom prst="roundRect">
            <a:avLst>
              <a:gd name="adj" fmla="val 3448"/>
            </a:avLst>
          </a:prstGeom>
          <a:solidFill>
            <a:srgbClr val="005587"/>
          </a:solidFill>
          <a:ln/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423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418  ·  FINAL PROJECT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outcomes from messy, multi-source data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9728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   ·   Summer 2026   ·   Professor Christopher Barr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92024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rules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0" y="2331720"/>
            <a:ext cx="441655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boldly with UCLA blue and gold — this option should read as proudly UCLA first.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chart series from the four-blue ramp: Dark → UCLA → Sky → Light.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is the standout marker for the key result; keep it off body text (fails contrast on white).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sans family (Arial/Calibri) at varied weights for a clean, modern, unified look.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897880"/>
            <a:ext cx="274320" cy="274320"/>
          </a:xfrm>
          <a:prstGeom prst="ellipse">
            <a:avLst/>
          </a:prstGeom>
          <a:solidFill>
            <a:srgbClr val="2774AE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" y="5897880"/>
            <a:ext cx="274320" cy="274320"/>
          </a:xfrm>
          <a:prstGeom prst="ellipse">
            <a:avLst/>
          </a:prstGeom>
          <a:solidFill>
            <a:srgbClr val="FFD1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408176" y="5897880"/>
            <a:ext cx="274320" cy="274320"/>
          </a:xfrm>
          <a:prstGeom prst="ellipse">
            <a:avLst/>
          </a:prstGeom>
          <a:solidFill>
            <a:srgbClr val="8BB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1792224" y="5897880"/>
            <a:ext cx="274320" cy="274320"/>
          </a:xfrm>
          <a:prstGeom prst="ellipse">
            <a:avLst/>
          </a:prstGeom>
          <a:solidFill>
            <a:srgbClr val="6B96C3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of 3 — "Bruin"  ·  STAT 418 deliverables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 418 Style Guide — Bruin</dc:title>
  <dc:subject>PptxGenJS Presentation</dc:subject>
  <dc:creator>Jeremy</dc:creator>
  <cp:lastModifiedBy>Jeremy</cp:lastModifiedBy>
  <cp:revision>1</cp:revision>
  <dcterms:created xsi:type="dcterms:W3CDTF">2026-06-25T02:10:31Z</dcterms:created>
  <dcterms:modified xsi:type="dcterms:W3CDTF">2026-06-25T02:10:31Z</dcterms:modified>
</cp:coreProperties>
</file>