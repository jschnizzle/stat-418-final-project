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5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418  ·  VISUAL STYLE GUIDE  ·  2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109087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Westwood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8778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identity — UCLA blue and gold meet Goldman's sky blue and serif poise in equal measure. Collegiate confidence with a professional finish.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310896" cy="310896"/>
          </a:xfrm>
          <a:prstGeom prst="ellipse">
            <a:avLst/>
          </a:prstGeom>
          <a:solidFill>
            <a:srgbClr val="2774AE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5349240"/>
            <a:ext cx="310896" cy="310896"/>
          </a:xfrm>
          <a:prstGeom prst="ellipse">
            <a:avLst/>
          </a:prstGeom>
          <a:solidFill>
            <a:srgbClr val="6B96C3"/>
          </a:solidFill>
          <a:ln/>
        </p:spPr>
      </p:sp>
      <p:sp>
        <p:nvSpPr>
          <p:cNvPr id="7" name="Shape 5"/>
          <p:cNvSpPr/>
          <p:nvPr/>
        </p:nvSpPr>
        <p:spPr>
          <a:xfrm>
            <a:off x="1481328" y="5349240"/>
            <a:ext cx="310896" cy="310896"/>
          </a:xfrm>
          <a:prstGeom prst="ellipse">
            <a:avLst/>
          </a:prstGeom>
          <a:solidFill>
            <a:srgbClr val="FFD100"/>
          </a:solidFill>
          <a:ln/>
        </p:spPr>
      </p:sp>
      <p:sp>
        <p:nvSpPr>
          <p:cNvPr id="8" name="Shape 6"/>
          <p:cNvSpPr/>
          <p:nvPr/>
        </p:nvSpPr>
        <p:spPr>
          <a:xfrm>
            <a:off x="1901952" y="5349240"/>
            <a:ext cx="310896" cy="310896"/>
          </a:xfrm>
          <a:prstGeom prst="ellipse">
            <a:avLst/>
          </a:prstGeom>
          <a:solidFill>
            <a:srgbClr val="00558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5806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BLEND:  50% UCLA  /  50% GOLDMAN SACHS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55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 palette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UCLA blue leads, dark blue grounds, sky blue supports, gold accents with intent.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9242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88900" dist="38100" dir="5400000">
              <a:srgbClr val="8090A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2774AE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307238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UCLA Blue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3401568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headers, links, key data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363931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55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#2774AE   ·   RGB 39,116,174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98264" y="1783080"/>
            <a:ext cx="339242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88900" dist="38100" dir="5400000">
              <a:srgbClr val="8090A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2856" y="1947672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005587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307238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UCLA Dark Blue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9432" y="3401568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Depth, titles, dark fills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99432" y="363931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55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#005587   ·   RGB 0,85,135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56448" y="1783080"/>
            <a:ext cx="339242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88900" dist="38100" dir="5400000">
              <a:srgbClr val="8090A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947672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6B96C3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307238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Goldman Sky Blue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57616" y="3401568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data, supporting fills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57616" y="363931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55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#6B96C3   ·   RGB 107,150,195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339242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88900" dist="38100" dir="5400000">
              <a:srgbClr val="8090A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507992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FFD100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563270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UCLA Gold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1248" y="5961888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— callouts, highlights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1248" y="619963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55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#FFD100   ·   RGB 255,209,0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98264" y="4343400"/>
            <a:ext cx="339242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88900" dist="38100" dir="5400000">
              <a:srgbClr val="8090A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62856" y="4507992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2E3A45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9432" y="563270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Charcoal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99432" y="5961888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99432" y="619963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55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#2E3A45   ·   RGB 46,58,69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56448" y="4343400"/>
            <a:ext cx="339242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  <a:effectLst>
            <a:outerShdw sx="100000" sy="100000" kx="0" ky="0" algn="bl" rotWithShape="0" blurRad="88900" dist="38100" dir="5400000">
              <a:srgbClr val="8090A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4507992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F2F5F8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57616" y="5632704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57616" y="5961888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table banding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357616" y="619963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55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#F2F5F8   ·   RGB 242,245,248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55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Typography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Serif headlines with a clean sans body — the balance point between Goldman's serif tradition and UCLA's modern sans.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F2F5F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38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HEADINGS — Cambria  (brand: Source Serif 4 / GS Serif)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5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Acquire, understand, model, communicate.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527151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401568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— Calibri  (brand: Inter)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48143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contemporary, highly legible sans echoes UCLA's Helvetica lineage while a serif headline adds Goldman poise — readable in reports, crisp on slides, neither stuffy nor sporty.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77356" y="3246120"/>
            <a:ext cx="5271516" cy="1828800"/>
          </a:xfrm>
          <a:prstGeom prst="roundRect">
            <a:avLst>
              <a:gd name="adj" fmla="val 4000"/>
            </a:avLst>
          </a:prstGeom>
          <a:solidFill>
            <a:srgbClr val="005587"/>
          </a:solidFill>
          <a:ln/>
        </p:spPr>
      </p:sp>
      <p:sp>
        <p:nvSpPr>
          <p:cNvPr id="11" name="Text 9"/>
          <p:cNvSpPr/>
          <p:nvPr/>
        </p:nvSpPr>
        <p:spPr>
          <a:xfrm>
            <a:off x="6505956" y="3401568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— Consolas / JetBrains Mono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05956" y="3749040"/>
            <a:ext cx="48143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library(sqldf)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sqldf("SELECT region, AVG(score)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FROM data GROUP BY region")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5303520"/>
          <a:ext cx="1090879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69080"/>
                <a:gridCol w="409651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FONT (licensed)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 FONT (used here)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 Serif → Source Serif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Cambria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Karbon / Inter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JetBrains Mono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55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use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title block and quick rules for applying the system to a slide.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035040" cy="2651760"/>
          </a:xfrm>
          <a:prstGeom prst="roundRect">
            <a:avLst>
              <a:gd name="adj" fmla="val 3448"/>
            </a:avLst>
          </a:prstGeom>
          <a:solidFill>
            <a:srgbClr val="2774AE"/>
          </a:solidFill>
          <a:ln/>
          <a:effectLst>
            <a:outerShdw sx="100000" sy="100000" kx="0" ky="0" algn="bl" rotWithShape="0" blurRad="88900" dist="38100" dir="5400000">
              <a:srgbClr val="8090A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423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418  ·  FINAL PROJECT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97280" y="2834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outcomes from messy, multi-source data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9728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Jeremy   ·   Summer 2026   ·   Professor Christopher Barr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0" y="1920240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rules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0" y="2331720"/>
            <a:ext cx="441655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UCLA blue; use dark blue to ground titles and headers.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is a real accent here — use it for callouts and the key takeaway, not as a wash.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the two blues plus sky blue for up to three ordered chart series.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body text in Charcoal, not pure black, for a softer institutional feel.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5897880"/>
            <a:ext cx="274320" cy="274320"/>
          </a:xfrm>
          <a:prstGeom prst="ellipse">
            <a:avLst/>
          </a:prstGeom>
          <a:solidFill>
            <a:srgbClr val="2774AE"/>
          </a:solidFill>
          <a:ln/>
        </p:spPr>
      </p:sp>
      <p:sp>
        <p:nvSpPr>
          <p:cNvPr id="11" name="Shape 9"/>
          <p:cNvSpPr/>
          <p:nvPr/>
        </p:nvSpPr>
        <p:spPr>
          <a:xfrm>
            <a:off x="1024128" y="5897880"/>
            <a:ext cx="274320" cy="274320"/>
          </a:xfrm>
          <a:prstGeom prst="ellipse">
            <a:avLst/>
          </a:prstGeom>
          <a:solidFill>
            <a:srgbClr val="6B96C3"/>
          </a:solidFill>
          <a:ln/>
        </p:spPr>
      </p:sp>
      <p:sp>
        <p:nvSpPr>
          <p:cNvPr id="12" name="Shape 10"/>
          <p:cNvSpPr/>
          <p:nvPr/>
        </p:nvSpPr>
        <p:spPr>
          <a:xfrm>
            <a:off x="1408176" y="5897880"/>
            <a:ext cx="274320" cy="274320"/>
          </a:xfrm>
          <a:prstGeom prst="ellipse">
            <a:avLst/>
          </a:prstGeom>
          <a:solidFill>
            <a:srgbClr val="FFD1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792224" y="5897880"/>
            <a:ext cx="274320" cy="274320"/>
          </a:xfrm>
          <a:prstGeom prst="ellipse">
            <a:avLst/>
          </a:prstGeom>
          <a:solidFill>
            <a:srgbClr val="005587"/>
          </a:solidFill>
          <a:ln/>
        </p:spPr>
      </p:sp>
      <p:sp>
        <p:nvSpPr>
          <p:cNvPr id="14" name="Text 12"/>
          <p:cNvSpPr/>
          <p:nvPr/>
        </p:nvSpPr>
        <p:spPr>
          <a:xfrm>
            <a:off x="301752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of 3 — "Westwood"  ·  STAT 418 deliverables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 418 Style Guide — Westwood</dc:title>
  <dc:subject>PptxGenJS Presentation</dc:subject>
  <dc:creator>Jeremy</dc:creator>
  <cp:lastModifiedBy>Jeremy</cp:lastModifiedBy>
  <cp:revision>1</cp:revision>
  <dcterms:created xsi:type="dcterms:W3CDTF">2026-06-25T02:10:31Z</dcterms:created>
  <dcterms:modified xsi:type="dcterms:W3CDTF">2026-06-25T02:10:31Z</dcterms:modified>
</cp:coreProperties>
</file>